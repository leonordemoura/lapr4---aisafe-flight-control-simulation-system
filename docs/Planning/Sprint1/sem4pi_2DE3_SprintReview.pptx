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9"/>
  </p:notesMasterIdLst>
  <p:sldIdLst>
    <p:sldId id="421" r:id="rId5"/>
    <p:sldId id="409" r:id="rId6"/>
    <p:sldId id="404" r:id="rId7"/>
    <p:sldId id="406" r:id="rId8"/>
    <p:sldId id="407" r:id="rId9"/>
    <p:sldId id="419" r:id="rId10"/>
    <p:sldId id="408" r:id="rId11"/>
    <p:sldId id="411" r:id="rId12"/>
    <p:sldId id="410" r:id="rId13"/>
    <p:sldId id="412" r:id="rId14"/>
    <p:sldId id="414" r:id="rId15"/>
    <p:sldId id="398" r:id="rId16"/>
    <p:sldId id="416" r:id="rId17"/>
    <p:sldId id="387" r:id="rId18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1A558A-D303-65E2-8988-E9D20194D4E8}" name="Ana Barata" initials="AB" userId="S::abt@isep.ipp.pt::5b353bcc-9c20-4dd6-9ceb-f15a7e5b3203" providerId="AD"/>
  <p188:author id="{5956A5CB-CE1A-290A-B300-9F9801E11217}" name="Alberto Pereira" initials="AP" userId="S::ABP@isep.ipp.pt::025b4ed9-2f4b-4a2d-9e8c-c2c2ba3dff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432"/>
    <a:srgbClr val="404040"/>
    <a:srgbClr val="7F7F7F"/>
    <a:srgbClr val="FF8600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B64259-549F-3540-97AA-C4225FB6DA9E}" v="14" dt="2026-04-05T18:09:08.2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>
      <p:cViewPr varScale="1">
        <p:scale>
          <a:sx n="111" d="100"/>
          <a:sy n="111" d="100"/>
        </p:scale>
        <p:origin x="1440" y="20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lha_de_C_lculo_do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lha_de_C_lculo_do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/>
              <a:t>Number Of </a:t>
            </a:r>
            <a:r>
              <a:rPr lang="pt-PT" err="1"/>
              <a:t>Tasks</a:t>
            </a:r>
            <a:endParaRPr lang="pt-PT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Folha1!$A$2:$A$5</c:f>
              <c:strCache>
                <c:ptCount val="4"/>
                <c:pt idx="0">
                  <c:v>Sofia Carvalho</c:v>
                </c:pt>
                <c:pt idx="1">
                  <c:v>Francisco Sá</c:v>
                </c:pt>
                <c:pt idx="2">
                  <c:v>Mariana Moreira </c:v>
                </c:pt>
                <c:pt idx="3">
                  <c:v>Leonor De Moura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10</c:v>
                </c:pt>
                <c:pt idx="1">
                  <c:v>11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/>
              <a:t>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accent6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6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6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accent6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cat>
            <c:strRef>
              <c:f>Folha1!$A$2:$A$5</c:f>
              <c:strCache>
                <c:ptCount val="2"/>
                <c:pt idx="0">
                  <c:v>LAPR</c:v>
                </c:pt>
                <c:pt idx="1">
                  <c:v>EAPLI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4/5/26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Não colocar screenshots! Preencher manualmente os valores.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49728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Se compilaram o registo de horas colocar as horas de trabalho, caso contrario utilizar o numero de tarefas ou algo que reflita a distribuição de trabalho.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402720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/>
              <a:t>Podem criar mais páginas se estas não forem suficientes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3238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3738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10604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531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89838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99193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825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61556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87231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15985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20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05/04/26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151704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05/04/26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9420808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64868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05/04/26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05/04/26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‹nº›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4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2" r:id="rId14"/>
    <p:sldLayoutId id="2147483655" r:id="rId15"/>
    <p:sldLayoutId id="2147483661" r:id="rId1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share/69d29f32-b894-832c-a3ce-094e9ab5781c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519" y="2924670"/>
            <a:ext cx="8505945" cy="571503"/>
          </a:xfrm>
        </p:spPr>
        <p:txBody>
          <a:bodyPr/>
          <a:lstStyle/>
          <a:p>
            <a:pPr algn="ctr"/>
            <a:r>
              <a:rPr lang="en-US" sz="3200" cap="none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2DE Group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03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SPRINT 1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DB1D8FD1-20D5-4B6F-506E-F430DA26CEBA}"/>
              </a:ext>
            </a:extLst>
          </p:cNvPr>
          <p:cNvSpPr txBox="1">
            <a:spLocks/>
          </p:cNvSpPr>
          <p:nvPr/>
        </p:nvSpPr>
        <p:spPr>
          <a:xfrm>
            <a:off x="414000" y="2123855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/>
            <a:r>
              <a:rPr lang="en-US" sz="3200" ker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LAPR4 2025_2026</a:t>
            </a:r>
            <a:endParaRPr lang="en-US" sz="3200" kern="0">
              <a:solidFill>
                <a:schemeClr val="tx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9F74EEB-0234-5877-B2D8-AEAF32221839}"/>
              </a:ext>
            </a:extLst>
          </p:cNvPr>
          <p:cNvGraphicFramePr>
            <a:graphicFrameLocks noGrp="1"/>
          </p:cNvGraphicFramePr>
          <p:nvPr/>
        </p:nvGraphicFramePr>
        <p:xfrm>
          <a:off x="1257000" y="4385034"/>
          <a:ext cx="7382780" cy="19802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45695">
                  <a:extLst>
                    <a:ext uri="{9D8B030D-6E8A-4147-A177-3AD203B41FA5}">
                      <a16:colId xmlns:a16="http://schemas.microsoft.com/office/drawing/2014/main" val="1786404924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388003712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217887647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2465101990"/>
                    </a:ext>
                  </a:extLst>
                </a:gridCol>
              </a:tblGrid>
              <a:tr h="652897"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Sofia Carvalho</a:t>
                      </a:r>
                    </a:p>
                    <a:p>
                      <a:pPr algn="ctr"/>
                      <a:r>
                        <a:rPr lang="pt-PT"/>
                        <a:t>(1240898)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Mariana Moreira</a:t>
                      </a:r>
                    </a:p>
                    <a:p>
                      <a:pPr algn="ctr"/>
                      <a:r>
                        <a:rPr lang="pt-PT"/>
                        <a:t>(1240905)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Leonor Moura</a:t>
                      </a:r>
                    </a:p>
                    <a:p>
                      <a:pPr algn="ctr"/>
                      <a:r>
                        <a:rPr lang="pt-PT"/>
                        <a:t>(1240914)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Francisco Sá</a:t>
                      </a:r>
                    </a:p>
                    <a:p>
                      <a:pPr algn="ctr"/>
                      <a:r>
                        <a:rPr lang="pt-PT"/>
                        <a:t>(1241341)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333584"/>
                  </a:ext>
                </a:extLst>
              </a:tr>
              <a:tr h="1327323"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  <a:p>
                      <a:pPr algn="ctr"/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  <a:p>
                      <a:endParaRPr lang="pt-PT"/>
                    </a:p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273831"/>
                  </a:ext>
                </a:extLst>
              </a:tr>
            </a:tbl>
          </a:graphicData>
        </a:graphic>
      </p:graphicFrame>
      <p:pic>
        <p:nvPicPr>
          <p:cNvPr id="7" name="Imagem 6" descr="Uma imagem com vestuário, pessoa, Vestuário formal, Blazer&#10;&#10;Os conteúdos gerados por IA poderão estar incorretos.">
            <a:extLst>
              <a:ext uri="{FF2B5EF4-FFF2-40B4-BE49-F238E27FC236}">
                <a16:creationId xmlns:a16="http://schemas.microsoft.com/office/drawing/2014/main" id="{B477F2EF-4AF2-700C-84C4-DFCDF37BE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7353" y="5036491"/>
            <a:ext cx="1548349" cy="1323284"/>
          </a:xfrm>
          <a:prstGeom prst="rect">
            <a:avLst/>
          </a:prstGeom>
        </p:spPr>
      </p:pic>
      <p:pic>
        <p:nvPicPr>
          <p:cNvPr id="8" name="Imagem 7" descr="Uma imagem com ar livre, Cara humana, pessoa, céu&#10;&#10;Os conteúdos gerados por IA poderão estar incorretos.">
            <a:extLst>
              <a:ext uri="{FF2B5EF4-FFF2-40B4-BE49-F238E27FC236}">
                <a16:creationId xmlns:a16="http://schemas.microsoft.com/office/drawing/2014/main" id="{CB3E4DFE-4591-8706-FC47-C22E78734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148" y="5036465"/>
            <a:ext cx="1377346" cy="132333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14D0994-A745-BEC8-2D3B-F5BA632CA6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4119" r="10642"/>
          <a:stretch/>
        </p:blipFill>
        <p:spPr>
          <a:xfrm>
            <a:off x="1605806" y="5036465"/>
            <a:ext cx="1114805" cy="1324800"/>
          </a:xfrm>
          <a:prstGeom prst="rect">
            <a:avLst/>
          </a:prstGeom>
        </p:spPr>
      </p:pic>
      <p:pic>
        <p:nvPicPr>
          <p:cNvPr id="10" name="Imagem 9" descr="Uma imagem com pessoa, interior, vestuário, Cara humana&#10;&#10;Os conteúdos gerados por IA poderão estar incorretos.">
            <a:extLst>
              <a:ext uri="{FF2B5EF4-FFF2-40B4-BE49-F238E27FC236}">
                <a16:creationId xmlns:a16="http://schemas.microsoft.com/office/drawing/2014/main" id="{65A1632A-903A-E5CB-0B56-4CCCBECBA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437" y="5035594"/>
            <a:ext cx="1710137" cy="132364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 – Sprint 1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7446944"/>
              </p:ext>
            </p:extLst>
          </p:nvPr>
        </p:nvGraphicFramePr>
        <p:xfrm>
          <a:off x="1020165" y="2618910"/>
          <a:ext cx="7830870" cy="274319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870430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Sub-Tasks: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Management Tasks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/>
                        <a:t>Planned: 4              Actual:   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/>
                        <a:t>Total planned estimation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noProof="0"/>
                        <a:t>Planned hours: 34</a:t>
                      </a:r>
                    </a:p>
                    <a:p>
                      <a:pPr lvl="0" algn="ctr">
                        <a:buNone/>
                      </a:pPr>
                      <a:r>
                        <a:rPr lang="en-US" noProof="0"/>
                        <a:t>Executed hours: 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Planned Start Date:   09/03/2026                         Real Start Date: 09/03/2026   </a:t>
            </a:r>
          </a:p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Planned Finished Date:   05/04/2026                   Real Finish Date: 03/04/2026</a:t>
            </a:r>
          </a:p>
          <a:p>
            <a:pPr marL="0" indent="0">
              <a:buFont typeface="Arial" pitchFamily="34" charset="0"/>
              <a:buNone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261593"/>
              </p:ext>
            </p:extLst>
          </p:nvPr>
        </p:nvGraphicFramePr>
        <p:xfrm>
          <a:off x="343241" y="1607501"/>
          <a:ext cx="9219518" cy="467162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461516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280928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34812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06854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302184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166612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166612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798826">
                <a:tc>
                  <a:txBody>
                    <a:bodyPr/>
                    <a:lstStyle/>
                    <a:p>
                      <a:r>
                        <a:rPr lang="en-US" noProof="0"/>
                        <a:t>Assignment US</a:t>
                      </a:r>
                    </a:p>
                    <a:p>
                      <a:r>
                        <a:rPr lang="en-US" sz="1200" noProof="0"/>
                        <a:t>(as stated on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err="1"/>
                        <a:t>Commited</a:t>
                      </a:r>
                      <a:r>
                        <a:rPr lang="en-US" noProof="0"/>
                        <a:t>?</a:t>
                      </a:r>
                    </a:p>
                    <a:p>
                      <a:pPr algn="ctr"/>
                      <a:r>
                        <a:rPr lang="en-US" sz="1200" noProof="0"/>
                        <a:t>(Yes / no 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47109">
                <a:tc>
                  <a:txBody>
                    <a:bodyPr/>
                    <a:lstStyle/>
                    <a:p>
                      <a:r>
                        <a:rPr lang="pt-PT"/>
                        <a:t>US 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47109">
                <a:tc>
                  <a:txBody>
                    <a:bodyPr/>
                    <a:lstStyle/>
                    <a:p>
                      <a:r>
                        <a:rPr lang="pt-PT"/>
                        <a:t>US 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471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4710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4710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/>
                        <a:t>US 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109061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301020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7636612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282771"/>
                  </a:ext>
                </a:extLst>
              </a:tr>
              <a:tr h="34710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/>
                        <a:t>US 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err="1"/>
                        <a:t>Yes</a:t>
                      </a: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1351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>
                <a:solidFill>
                  <a:schemeClr val="tx1"/>
                </a:solidFill>
              </a:rPr>
              <a:t>Work </a:t>
            </a:r>
            <a:r>
              <a:rPr lang="pt-PT" sz="3200" cap="none" err="1">
                <a:solidFill>
                  <a:schemeClr val="tx1"/>
                </a:solidFill>
              </a:rPr>
              <a:t>by</a:t>
            </a:r>
            <a:r>
              <a:rPr lang="pt-PT" sz="3200" cap="none">
                <a:solidFill>
                  <a:schemeClr val="tx1"/>
                </a:solidFill>
              </a:rPr>
              <a:t> team </a:t>
            </a:r>
            <a:r>
              <a:rPr lang="pt-PT" sz="3200" cap="none" err="1">
                <a:solidFill>
                  <a:schemeClr val="tx1"/>
                </a:solidFill>
              </a:rPr>
              <a:t>member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919779"/>
              </p:ext>
            </p:extLst>
          </p:nvPr>
        </p:nvGraphicFramePr>
        <p:xfrm>
          <a:off x="1622630" y="1673805"/>
          <a:ext cx="6604000" cy="396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>
                <a:solidFill>
                  <a:schemeClr val="tx1"/>
                </a:solidFill>
              </a:rPr>
              <a:t>Work </a:t>
            </a:r>
            <a:r>
              <a:rPr lang="pt-PT" sz="3200" cap="none" err="1">
                <a:solidFill>
                  <a:schemeClr val="tx1"/>
                </a:solidFill>
              </a:rPr>
              <a:t>by</a:t>
            </a:r>
            <a:r>
              <a:rPr lang="pt-PT" sz="3200" cap="none">
                <a:solidFill>
                  <a:schemeClr val="tx1"/>
                </a:solidFill>
              </a:rPr>
              <a:t> UC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645397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>
                <a:solidFill>
                  <a:schemeClr val="tx1"/>
                </a:solidFill>
              </a:rPr>
              <a:t>Sprint </a:t>
            </a:r>
            <a:r>
              <a:rPr lang="pt-PT" sz="3200" cap="none" err="1">
                <a:solidFill>
                  <a:schemeClr val="tx1"/>
                </a:solidFill>
              </a:rPr>
              <a:t>Burndown</a:t>
            </a:r>
            <a:r>
              <a:rPr lang="pt-PT" sz="3200" cap="none">
                <a:solidFill>
                  <a:schemeClr val="tx1"/>
                </a:solidFill>
              </a:rPr>
              <a:t> </a:t>
            </a:r>
            <a:r>
              <a:rPr lang="pt-PT" sz="3200" cap="none" err="1">
                <a:solidFill>
                  <a:schemeClr val="tx1"/>
                </a:solidFill>
              </a:rPr>
              <a:t>Chart</a:t>
            </a:r>
            <a:endParaRPr lang="pt-PT" sz="3200" cap="none"/>
          </a:p>
        </p:txBody>
      </p:sp>
      <p:pic>
        <p:nvPicPr>
          <p:cNvPr id="7" name="Imagem 6" descr="Uma imagem com texto, Gráfico, file, captura de ecrã&#10;&#10;Descrição gerada automaticamente">
            <a:extLst>
              <a:ext uri="{FF2B5EF4-FFF2-40B4-BE49-F238E27FC236}">
                <a16:creationId xmlns:a16="http://schemas.microsoft.com/office/drawing/2014/main" id="{DB6D972C-6FE5-C73A-B601-0CFA077E3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2610" y="1678705"/>
            <a:ext cx="6528175" cy="422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70180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Issues / Assumptions / unanswered questions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765780B-B941-BB03-F491-AFEFC482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450145"/>
              </p:ext>
            </p:extLst>
          </p:nvPr>
        </p:nvGraphicFramePr>
        <p:xfrm>
          <a:off x="414000" y="1673805"/>
          <a:ext cx="9129510" cy="1564375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13395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530170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89021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b="1" i="0" u="none" strike="noStrike" cap="none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Responsible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Date / sprint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Related issue / </a:t>
                      </a:r>
                    </a:p>
                    <a:p>
                      <a:pPr algn="ctr"/>
                      <a:r>
                        <a:rPr lang="en-US" noProof="0"/>
                        <a:t>item in 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934305">
                <a:tc>
                  <a:txBody>
                    <a:bodyPr/>
                    <a:lstStyle/>
                    <a:p>
                      <a:r>
                        <a:rPr lang="pt-PT"/>
                        <a:t>No </a:t>
                      </a:r>
                      <a:r>
                        <a:rPr lang="pt-PT" err="1"/>
                        <a:t>issue</a:t>
                      </a:r>
                      <a:r>
                        <a:rPr lang="pt-PT"/>
                        <a:t> in </a:t>
                      </a:r>
                      <a:r>
                        <a:rPr lang="pt-PT" err="1"/>
                        <a:t>this</a:t>
                      </a:r>
                      <a:r>
                        <a:rPr lang="pt-PT"/>
                        <a:t> sprint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29E7-3FFD-D203-2288-6373118F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485DCF-CD7D-9487-0175-274A08E05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Daily Meetings (Sprint 1)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6298545B-B353-4200-A812-3BB5E336033D}"/>
              </a:ext>
            </a:extLst>
          </p:cNvPr>
          <p:cNvSpPr txBox="1">
            <a:spLocks/>
          </p:cNvSpPr>
          <p:nvPr/>
        </p:nvSpPr>
        <p:spPr>
          <a:xfrm>
            <a:off x="431400" y="1571611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A760796-9F6B-C0FD-165B-0762CD07E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767565"/>
              </p:ext>
            </p:extLst>
          </p:nvPr>
        </p:nvGraphicFramePr>
        <p:xfrm>
          <a:off x="973310" y="1894547"/>
          <a:ext cx="7959380" cy="404683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0368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7517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4055970072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3954452917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/>
                        <a:t>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/>
                        <a:t>Place /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/>
                        <a:t>Team member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450050">
                <a:tc>
                  <a:txBody>
                    <a:bodyPr/>
                    <a:lstStyle/>
                    <a:p>
                      <a:r>
                        <a:rPr lang="pt-PT"/>
                        <a:t>17/03/2026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18/03/2026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19/03/2026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19288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20/03/2026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47331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24/03/2026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7569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25/03/2026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9839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26/03/2026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21399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31/03/2026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89340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/>
                        <a:t>03/04/2026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err="1"/>
                        <a:t>Class</a:t>
                      </a:r>
                      <a:r>
                        <a:rPr lang="pt-PT"/>
                        <a:t> / 15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411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851376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B12B-83CD-A79C-40AB-A4F8FFB7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2D3FC9-4165-9BE5-544E-277A081A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492000" cy="571503"/>
          </a:xfrm>
        </p:spPr>
        <p:txBody>
          <a:bodyPr/>
          <a:lstStyle/>
          <a:p>
            <a:r>
              <a:rPr lang="en-US" sz="3200">
                <a:solidFill>
                  <a:schemeClr val="tx1"/>
                </a:solidFill>
              </a:rPr>
              <a:t>LLM</a:t>
            </a:r>
            <a:r>
              <a:rPr lang="en-US" sz="3200" cap="none">
                <a:solidFill>
                  <a:schemeClr val="tx1"/>
                </a:solidFill>
              </a:rPr>
              <a:t> performance assessment - Input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7856DF50-9E5E-4610-FEB2-C4A38022FCFD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76398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>
                <a:solidFill>
                  <a:schemeClr val="tx1"/>
                </a:solidFill>
              </a:rPr>
              <a:t>Source file: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The file is stored on the repository, name as </a:t>
            </a:r>
            <a:r>
              <a:rPr lang="en-US" sz="2000" b="0" kern="0" err="1">
                <a:solidFill>
                  <a:schemeClr val="tx1"/>
                </a:solidFill>
              </a:rPr>
              <a:t>DailyMeeting.md</a:t>
            </a:r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r>
              <a:rPr lang="en-US" sz="2000" kern="0">
                <a:solidFill>
                  <a:schemeClr val="tx1"/>
                </a:solidFill>
              </a:rPr>
              <a:t>Input:</a:t>
            </a:r>
          </a:p>
          <a:p>
            <a:r>
              <a:rPr lang="en-US" sz="2000" b="0" kern="0">
                <a:solidFill>
                  <a:schemeClr val="tx1"/>
                </a:solidFill>
              </a:rPr>
              <a:t>Let me know what you think about my team's performance in this review. Deliver a small assessment for each member.</a:t>
            </a:r>
          </a:p>
          <a:p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418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E430-2642-81CC-FC5F-10469D76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477A9-425C-670A-9E07-3A102D29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LLM performance assessment - Output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5B8695FE-2C17-FCC1-CCC4-8717D8F253C2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41914A20-7452-6770-365F-62A72A9E05A5}"/>
              </a:ext>
            </a:extLst>
          </p:cNvPr>
          <p:cNvSpPr txBox="1">
            <a:spLocks/>
          </p:cNvSpPr>
          <p:nvPr/>
        </p:nvSpPr>
        <p:spPr>
          <a:xfrm>
            <a:off x="414000" y="1718810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>
                <a:solidFill>
                  <a:schemeClr val="tx1"/>
                </a:solidFill>
              </a:rPr>
              <a:t>Output file:</a:t>
            </a:r>
            <a:endParaRPr lang="en-US" sz="2000" b="0" kern="0">
              <a:solidFill>
                <a:schemeClr val="tx1"/>
              </a:solidFill>
            </a:endParaRPr>
          </a:p>
          <a:p>
            <a:r>
              <a:rPr lang="en-US" sz="2000" b="0" kern="0">
                <a:solidFill>
                  <a:schemeClr val="tx1"/>
                </a:solidFill>
                <a:hlinkClick r:id="rId3"/>
              </a:rPr>
              <a:t>https://chatgpt.com/share/69d29f32-b894-832c-a3ce-094e9ab5781c</a:t>
            </a:r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  <a:p>
            <a:r>
              <a:rPr lang="en-US" sz="2000" kern="0">
                <a:solidFill>
                  <a:schemeClr val="tx1"/>
                </a:solidFill>
              </a:rPr>
              <a:t>Output</a:t>
            </a:r>
            <a:r>
              <a:rPr lang="en-US" sz="2000" b="0" kern="0">
                <a:solidFill>
                  <a:schemeClr val="tx1"/>
                </a:solidFill>
              </a:rPr>
              <a:t>:</a:t>
            </a:r>
          </a:p>
          <a:p>
            <a:pPr algn="just"/>
            <a:r>
              <a:rPr lang="en-GB" sz="2000" b="0" kern="0">
                <a:solidFill>
                  <a:schemeClr val="tx1"/>
                </a:solidFill>
              </a:rPr>
              <a:t>     </a:t>
            </a:r>
            <a:r>
              <a:rPr lang="en-GB" sz="2000" kern="0">
                <a:solidFill>
                  <a:schemeClr val="tx1"/>
                </a:solidFill>
              </a:rPr>
              <a:t>Francisco Sá (1241341) - </a:t>
            </a:r>
            <a:r>
              <a:rPr lang="en-GB" sz="2000" b="0" kern="0">
                <a:solidFill>
                  <a:schemeClr val="tx1"/>
                </a:solidFill>
              </a:rPr>
              <a:t>Assumed structural technical tasks from early on (JPA                  integration, environment configuration, execution scripts), demonstrating    autonomy and the ability to handle technical complexity.</a:t>
            </a:r>
          </a:p>
          <a:p>
            <a:pPr marL="228600" indent="-57150" algn="just"/>
            <a:r>
              <a:rPr lang="en-GB" sz="2000" kern="0">
                <a:solidFill>
                  <a:schemeClr val="tx1"/>
                </a:solidFill>
              </a:rPr>
              <a:t>Sofia Carvalho (1240898) -</a:t>
            </a:r>
            <a:r>
              <a:rPr lang="en-GB" sz="2000" b="0" kern="0">
                <a:solidFill>
                  <a:schemeClr val="tx1"/>
                </a:solidFill>
              </a:rPr>
              <a:t> Showcased relevant technical skills, especially in implementing continuous integration and project structuring.</a:t>
            </a:r>
          </a:p>
          <a:p>
            <a:pPr marL="228600" indent="-57150" algn="just"/>
            <a:r>
              <a:rPr lang="en-GB" sz="2000" kern="0">
                <a:solidFill>
                  <a:schemeClr val="tx1"/>
                </a:solidFill>
              </a:rPr>
              <a:t>Leonor Moura (1240914) -</a:t>
            </a:r>
            <a:r>
              <a:rPr lang="en-GB" sz="2000" b="0" kern="0">
                <a:solidFill>
                  <a:schemeClr val="tx1"/>
                </a:solidFill>
              </a:rPr>
              <a:t> Demonstrated a solid start, taking on important structural responsibilities (repository creation and project board management).</a:t>
            </a:r>
          </a:p>
          <a:p>
            <a:pPr marL="228600" indent="-57150" algn="just"/>
            <a:r>
              <a:rPr lang="en-GB" sz="2000" kern="0">
                <a:solidFill>
                  <a:schemeClr val="tx1"/>
                </a:solidFill>
              </a:rPr>
              <a:t>Mariana Moreira (1240905) - </a:t>
            </a:r>
            <a:r>
              <a:rPr lang="en-GB" sz="2000" b="0" kern="0">
                <a:solidFill>
                  <a:schemeClr val="tx1"/>
                </a:solidFill>
              </a:rPr>
              <a:t>Focused on fundamental conceptual aspects, such as the domain model and the glossary, which indicates an important role in the system's semantic definition.</a:t>
            </a:r>
            <a:endParaRPr lang="en-US" sz="2000" b="0" kern="0">
              <a:solidFill>
                <a:schemeClr val="tx1"/>
              </a:solidFill>
            </a:endParaRPr>
          </a:p>
          <a:p>
            <a:endParaRPr lang="en-US" sz="2000" b="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10042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53EF-F156-F33D-2313-E8D7DCCE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FF6CEA0-4C41-AE7C-658B-88CFDE002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LLM performance assessment – Critical Insight</a:t>
            </a:r>
            <a:endParaRPr lang="en-US" sz="3200" cap="none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2FEDAC75-266B-CFD9-8C22-2A369A13B7FE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26E8AA96-E4FE-2D1F-50B5-1C90B137D285}"/>
              </a:ext>
            </a:extLst>
          </p:cNvPr>
          <p:cNvSpPr txBox="1">
            <a:spLocks/>
          </p:cNvSpPr>
          <p:nvPr/>
        </p:nvSpPr>
        <p:spPr>
          <a:xfrm>
            <a:off x="414000" y="1718810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>
                <a:solidFill>
                  <a:schemeClr val="tx1"/>
                </a:solidFill>
              </a:rPr>
              <a:t>Team Members’ Opinion about the A.I. output</a:t>
            </a: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chemeClr val="tx1"/>
                </a:solidFill>
              </a:rPr>
              <a:t>Francisco </a:t>
            </a:r>
            <a:r>
              <a:rPr lang="en-GB" sz="1600" b="0" kern="0">
                <a:solidFill>
                  <a:schemeClr val="tx1"/>
                </a:solidFill>
              </a:rPr>
              <a:t>– I think this is correct. I tried to maintain a consistent contribution across all technical areas throughout the sprint.</a:t>
            </a: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chemeClr val="tx1"/>
                </a:solidFill>
              </a:rPr>
              <a:t>Sofia </a:t>
            </a:r>
            <a:r>
              <a:rPr lang="en-GB" sz="1600" b="0" kern="0">
                <a:solidFill>
                  <a:schemeClr val="tx1"/>
                </a:solidFill>
              </a:rPr>
              <a:t>– This evaluation is accurate. My focus was on ensuring a high-quality development process through software engineering.</a:t>
            </a: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chemeClr val="tx1"/>
                </a:solidFill>
              </a:rPr>
              <a:t>Leonor </a:t>
            </a:r>
            <a:r>
              <a:rPr lang="en-GB" sz="1600" b="0" kern="0">
                <a:solidFill>
                  <a:schemeClr val="tx1"/>
                </a:solidFill>
              </a:rPr>
              <a:t>– I agree with this assessment. Our contributions were consistent and well-balanced across the sprint.</a:t>
            </a:r>
          </a:p>
          <a:p>
            <a:pPr marL="285750" indent="-285750">
              <a:buFont typeface="Arial"/>
              <a:buChar char="•"/>
            </a:pPr>
            <a:r>
              <a:rPr lang="en-GB" sz="1600" kern="0">
                <a:solidFill>
                  <a:schemeClr val="tx1"/>
                </a:solidFill>
              </a:rPr>
              <a:t>Mariana </a:t>
            </a:r>
            <a:r>
              <a:rPr lang="en-GB" sz="1600" b="0" kern="0">
                <a:solidFill>
                  <a:schemeClr val="tx1"/>
                </a:solidFill>
              </a:rPr>
              <a:t>– This assessment seems fair. Our steady work and proactive organization helped keep things on track.</a:t>
            </a:r>
          </a:p>
          <a:p>
            <a:endParaRPr lang="en-US" sz="2000" b="0" kern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  <a:p>
            <a:endParaRPr lang="en-US" sz="2000" ker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09559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Sprint Retrospective                        </a:t>
            </a:r>
            <a:r>
              <a:rPr lang="en-US" sz="2800" b="0" cap="none">
                <a:solidFill>
                  <a:schemeClr val="tx1"/>
                </a:solidFill>
              </a:rPr>
              <a:t>Date: 05/04/2026 </a:t>
            </a:r>
            <a:endParaRPr lang="en-US" sz="3200" b="0" cap="none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0869" y="1763815"/>
            <a:ext cx="2970330" cy="4450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went well?</a:t>
            </a:r>
          </a:p>
          <a:p>
            <a:endParaRPr lang="en-US" u="sng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 sprint was completed successfully with effective communication across the team.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 team delivered all committed user stories within the sprint timeframe.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 review phase was conducted with sufficient time and attention to detail.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 entire team contributed actively and consistently throughout the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80763" y="1763815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Some tasks took longer than expected to be finished.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There were some merge conflicts.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708195" y="1763814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>
                <a:solidFill>
                  <a:schemeClr val="tx1"/>
                </a:solidFill>
              </a:rPr>
              <a:t>What we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Clear definition of acceptance criteria improves development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Establishing clearer ownership of tasks improves execution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The sprint is easier if everyone is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We improved our critical thinking during the design of the user story. 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2CD9A-A6B3-4B07-0147-82C89E59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68FE494-922C-E1E1-79A1-7A1F0B46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>
                <a:solidFill>
                  <a:schemeClr val="tx1"/>
                </a:solidFill>
              </a:rPr>
              <a:t>Overall Project Mood: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C4182299-A087-9A61-ABDB-1B05269A2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en-US">
                <a:solidFill>
                  <a:schemeClr val="tx1"/>
                </a:solidFill>
              </a:rPr>
              <a:t>Independently on the team performance, what's the final Team feeling: </a:t>
            </a: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endParaRPr lang="en-US">
              <a:solidFill>
                <a:schemeClr val="bg1">
                  <a:lumMod val="50000"/>
                </a:schemeClr>
              </a:solidFill>
            </a:endParaRPr>
          </a:p>
          <a:p>
            <a:pPr marL="127000" indent="0">
              <a:buNone/>
            </a:pPr>
            <a:r>
              <a:rPr lang="en-US" b="1">
                <a:solidFill>
                  <a:schemeClr val="tx1"/>
                </a:solidFill>
              </a:rPr>
              <a:t>Brief justification:</a:t>
            </a:r>
            <a:r>
              <a:rPr lang="en-GB" b="1">
                <a:solidFill>
                  <a:schemeClr val="tx1"/>
                </a:solidFill>
              </a:rPr>
              <a:t> </a:t>
            </a:r>
            <a:r>
              <a:rPr lang="en-GB">
                <a:solidFill>
                  <a:schemeClr val="tx1"/>
                </a:solidFill>
              </a:rPr>
              <a:t>We feel proud of everything we managed to accomplish throughout this sprint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BA9DB45-4731-47F1-F774-251BCAFA3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615" y="2438890"/>
            <a:ext cx="6728791" cy="2299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88357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am work">
            <a:extLst>
              <a:ext uri="{FF2B5EF4-FFF2-40B4-BE49-F238E27FC236}">
                <a16:creationId xmlns:a16="http://schemas.microsoft.com/office/drawing/2014/main" id="{63305713-9999-B782-17EA-DC85021DE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9"/>
          <a:stretch/>
        </p:blipFill>
        <p:spPr bwMode="auto">
          <a:xfrm>
            <a:off x="0" y="947824"/>
            <a:ext cx="9906000" cy="591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52B1E44048D8469E872E4EAE2C3404" ma:contentTypeVersion="11" ma:contentTypeDescription="Criar um novo documento." ma:contentTypeScope="" ma:versionID="5d6bea2526e958e85fe4b0fdb202b19b">
  <xsd:schema xmlns:xsd="http://www.w3.org/2001/XMLSchema" xmlns:xs="http://www.w3.org/2001/XMLSchema" xmlns:p="http://schemas.microsoft.com/office/2006/metadata/properties" xmlns:ns2="ed04904d-c619-4467-a32f-09812827fd8e" xmlns:ns3="b4fdeaeb-cd21-48a0-91d3-a71b662e0a05" targetNamespace="http://schemas.microsoft.com/office/2006/metadata/properties" ma:root="true" ma:fieldsID="bffbf4134176b596353c185a581a363d" ns2:_="" ns3:_="">
    <xsd:import namespace="ed04904d-c619-4467-a32f-09812827fd8e"/>
    <xsd:import namespace="b4fdeaeb-cd21-48a0-91d3-a71b662e0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4904d-c619-4467-a32f-09812827fd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eaeb-cd21-48a0-91d3-a71b662e0a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15ae7b-29a8-45ec-b859-842c81a716b0}" ma:internalName="TaxCatchAll" ma:showField="CatchAllData" ma:web="b4fdeaeb-cd21-48a0-91d3-a71b662e0a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04904d-c619-4467-a32f-09812827fd8e">
      <Terms xmlns="http://schemas.microsoft.com/office/infopath/2007/PartnerControls"/>
    </lcf76f155ced4ddcb4097134ff3c332f>
    <TaxCatchAll xmlns="b4fdeaeb-cd21-48a0-91d3-a71b662e0a05" xsi:nil="true"/>
  </documentManagement>
</p:properties>
</file>

<file path=customXml/itemProps1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43706E8-7DEF-45BC-8335-95BA84D3C396}">
  <ds:schemaRefs>
    <ds:schemaRef ds:uri="b4fdeaeb-cd21-48a0-91d3-a71b662e0a05"/>
    <ds:schemaRef ds:uri="ed04904d-c619-4467-a32f-09812827fd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9B87164-EF5F-43C8-917E-48B38ACAFD1E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b4fdeaeb-cd21-48a0-91d3-a71b662e0a05"/>
    <ds:schemaRef ds:uri="http://purl.org/dc/elements/1.1/"/>
    <ds:schemaRef ds:uri="http://schemas.openxmlformats.org/package/2006/metadata/core-properties"/>
    <ds:schemaRef ds:uri="ed04904d-c619-4467-a32f-09812827fd8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782</Words>
  <Application>Microsoft Macintosh PowerPoint</Application>
  <PresentationFormat>Papel A4 (210x297 mm)</PresentationFormat>
  <Paragraphs>206</Paragraphs>
  <Slides>14</Slides>
  <Notes>4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14</vt:i4>
      </vt:variant>
    </vt:vector>
  </HeadingPairs>
  <TitlesOfParts>
    <vt:vector size="18" baseType="lpstr">
      <vt:lpstr>Arial</vt:lpstr>
      <vt:lpstr>Calibri</vt:lpstr>
      <vt:lpstr>Kozuka Gothic Pro M</vt:lpstr>
      <vt:lpstr>1_ISEP</vt:lpstr>
      <vt:lpstr>Class 2DE Group 03 SPRINT 1</vt:lpstr>
      <vt:lpstr>Sprint planning – Sprint 1</vt:lpstr>
      <vt:lpstr>Sprint planning</vt:lpstr>
      <vt:lpstr>Work by team member </vt:lpstr>
      <vt:lpstr>Work by UC</vt:lpstr>
      <vt:lpstr>Sprint Burndown Chart</vt:lpstr>
      <vt:lpstr>Issues / Assumptions / unanswered questions</vt:lpstr>
      <vt:lpstr>Daily Meetings (Sprint 1)</vt:lpstr>
      <vt:lpstr>LLM performance assessment - Input</vt:lpstr>
      <vt:lpstr>LLM performance assessment - Output</vt:lpstr>
      <vt:lpstr>LLM performance assessment – Critical Insight</vt:lpstr>
      <vt:lpstr>Sprint Retrospective                        Date: 05/04/2026 </vt:lpstr>
      <vt:lpstr>Overall Project Mood: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Ana Sofia Costa Carvalho</cp:lastModifiedBy>
  <cp:revision>1</cp:revision>
  <dcterms:created xsi:type="dcterms:W3CDTF">2010-10-20T15:48:12Z</dcterms:created>
  <dcterms:modified xsi:type="dcterms:W3CDTF">2026-04-05T18:09:08Z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0x010100BA52B1E44048D8469E872E4EAE2C3404</vt:lpwstr>
  </property>
  <property fmtid="{D5CDD505-2E9C-101B-9397-08002B2CF9AE}" pid="3" name="MediaServiceImageTags">
    <vt:lpwstr/>
  </property>
</Properties>
</file>